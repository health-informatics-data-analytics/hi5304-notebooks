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Group Project Title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8755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A5A5A"/>
                </a:solidFill>
              </a:defRPr>
            </a:pPr>
            <a:r>
              <a:t>Team name | Course: HI5312 Introduction to Data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42416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>
                <a:solidFill>
                  <a:srgbClr val="008080"/>
                </a:solidFill>
              </a:defRPr>
            </a:pPr>
            <a:r>
              <a:t>Clinical question in one sentence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457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65683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5A5A"/>
                </a:solidFill>
              </a:defRPr>
            </a:pPr>
            <a:r>
              <a:t>HI5312 Group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Background and Stakeholder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What problem motivated the project?</a:t>
            </a:r>
          </a:p>
          <a:p>
            <a:pPr>
              <a:spcAft>
                <a:spcPts val="1000"/>
              </a:spcAft>
              <a:defRPr sz="2000"/>
            </a:pPr>
            <a:r>
              <a:t>Who requested the analysis?</a:t>
            </a:r>
          </a:p>
          <a:p>
            <a:pPr>
              <a:spcAft>
                <a:spcPts val="1000"/>
              </a:spcAft>
              <a:defRPr sz="2000"/>
            </a:pPr>
            <a:r>
              <a:t>What decision should the work support?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457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65683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5A5A"/>
                </a:solidFill>
              </a:defRPr>
            </a:pPr>
            <a:r>
              <a:t>HI5312 Group Project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Clinical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Population</a:t>
            </a:r>
          </a:p>
          <a:p>
            <a:pPr>
              <a:spcAft>
                <a:spcPts val="1000"/>
              </a:spcAft>
              <a:defRPr sz="2000"/>
            </a:pPr>
            <a:r>
              <a:t>Unit of analysis</a:t>
            </a:r>
          </a:p>
          <a:p>
            <a:pPr>
              <a:spcAft>
                <a:spcPts val="1000"/>
              </a:spcAft>
              <a:defRPr sz="2000"/>
            </a:pPr>
            <a:r>
              <a:t>Outcome or metric</a:t>
            </a:r>
          </a:p>
          <a:p>
            <a:pPr>
              <a:spcAft>
                <a:spcPts val="1000"/>
              </a:spcAft>
              <a:defRPr sz="2000"/>
            </a:pPr>
            <a:r>
              <a:t>Key comparison or grouping variable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457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65683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5A5A"/>
                </a:solidFill>
              </a:defRPr>
            </a:pPr>
            <a:r>
              <a:t>HI5312 Group Project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Dataset and 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MIMIC-IV tables or approved dataset used</a:t>
            </a:r>
          </a:p>
          <a:p>
            <a:pPr>
              <a:spcAft>
                <a:spcPts val="1000"/>
              </a:spcAft>
              <a:defRPr sz="2000"/>
            </a:pPr>
            <a:r>
              <a:t>SQL extraction approach</a:t>
            </a:r>
          </a:p>
          <a:p>
            <a:pPr>
              <a:spcAft>
                <a:spcPts val="1000"/>
              </a:spcAft>
              <a:defRPr sz="2000"/>
            </a:pPr>
            <a:r>
              <a:t>Python cleaning and validation approach</a:t>
            </a:r>
          </a:p>
          <a:p>
            <a:pPr>
              <a:spcAft>
                <a:spcPts val="1000"/>
              </a:spcAft>
              <a:defRPr sz="2000"/>
            </a:pPr>
            <a:r>
              <a:t>Tableau dashboard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457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65683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5A5A"/>
                </a:solidFill>
              </a:defRPr>
            </a:pPr>
            <a:r>
              <a:t>HI5312 Group Project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Key Finding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State finding clearly</a:t>
            </a:r>
          </a:p>
          <a:p>
            <a:pPr>
              <a:spcAft>
                <a:spcPts val="1000"/>
              </a:spcAft>
              <a:defRPr sz="2000"/>
            </a:pPr>
            <a:r>
              <a:t>Show the figure or dashboard screenshot</a:t>
            </a:r>
          </a:p>
          <a:p>
            <a:pPr>
              <a:spcAft>
                <a:spcPts val="1000"/>
              </a:spcAft>
              <a:defRPr sz="2000"/>
            </a:pPr>
            <a:r>
              <a:t>Explain why it matters clinically or operationally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457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65683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5A5A"/>
                </a:solidFill>
              </a:defRPr>
            </a:pPr>
            <a:r>
              <a:t>HI5312 Group Project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Key Finding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State finding clearly</a:t>
            </a:r>
          </a:p>
          <a:p>
            <a:pPr>
              <a:spcAft>
                <a:spcPts val="1000"/>
              </a:spcAft>
              <a:defRPr sz="2000"/>
            </a:pPr>
            <a:r>
              <a:t>Use plain language</a:t>
            </a:r>
          </a:p>
          <a:p>
            <a:pPr>
              <a:spcAft>
                <a:spcPts val="1000"/>
              </a:spcAft>
              <a:defRPr sz="2000"/>
            </a:pPr>
            <a:r>
              <a:t>Connect result to stakeholder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457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65683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5A5A"/>
                </a:solidFill>
              </a:defRPr>
            </a:pPr>
            <a:r>
              <a:t>HI5312 Group Project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Dashboard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Insert dashboard screenshot</a:t>
            </a:r>
          </a:p>
          <a:p>
            <a:pPr>
              <a:spcAft>
                <a:spcPts val="1000"/>
              </a:spcAft>
              <a:defRPr sz="2000"/>
            </a:pPr>
            <a:r>
              <a:t>Describe filters and KPIs</a:t>
            </a:r>
          </a:p>
          <a:p>
            <a:pPr>
              <a:spcAft>
                <a:spcPts val="1000"/>
              </a:spcAft>
              <a:defRPr sz="2000"/>
            </a:pPr>
            <a:r>
              <a:t>Explain how leadership should use the dashboard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457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65683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5A5A"/>
                </a:solidFill>
              </a:defRPr>
            </a:pPr>
            <a:r>
              <a:t>HI5312 Group Project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Recommendation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One actionable recommendation</a:t>
            </a:r>
          </a:p>
          <a:p>
            <a:pPr>
              <a:spcAft>
                <a:spcPts val="1000"/>
              </a:spcAft>
              <a:defRPr sz="2000"/>
            </a:pPr>
            <a:r>
              <a:t>Evidence supporting it</a:t>
            </a:r>
          </a:p>
          <a:p>
            <a:pPr>
              <a:spcAft>
                <a:spcPts val="1000"/>
              </a:spcAft>
              <a:defRPr sz="2000"/>
            </a:pPr>
            <a:r>
              <a:t>Responsible next step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457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65683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5A5A"/>
                </a:solidFill>
              </a:defRPr>
            </a:pPr>
            <a:r>
              <a:t>HI5312 Group Project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Data limitations</a:t>
            </a:r>
          </a:p>
          <a:p>
            <a:pPr>
              <a:spcAft>
                <a:spcPts val="1000"/>
              </a:spcAft>
              <a:defRPr sz="2000"/>
            </a:pPr>
            <a:r>
              <a:t>Analytical limitations</a:t>
            </a:r>
          </a:p>
          <a:p>
            <a:pPr>
              <a:spcAft>
                <a:spcPts val="1000"/>
              </a:spcAft>
              <a:defRPr sz="2000"/>
            </a:pPr>
            <a:r>
              <a:t>Interpretation cautions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457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65683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5A5A"/>
                </a:solidFill>
              </a:defRPr>
            </a:pPr>
            <a:r>
              <a:t>HI5312 Group Project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Conclusion and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Restate the primary answer</a:t>
            </a:r>
          </a:p>
          <a:p>
            <a:pPr>
              <a:spcAft>
                <a:spcPts val="1000"/>
              </a:spcAft>
              <a:defRPr sz="2000"/>
            </a:pPr>
            <a:r>
              <a:t>Reinforce recommendation</a:t>
            </a:r>
          </a:p>
          <a:p>
            <a:pPr>
              <a:spcAft>
                <a:spcPts val="1000"/>
              </a:spcAft>
              <a:defRPr sz="2000"/>
            </a:pPr>
            <a:r>
              <a:t>Invite discussion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457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65683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5A5A"/>
                </a:solidFill>
              </a:defRPr>
            </a:pPr>
            <a:r>
              <a:t>HI5312 Group 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